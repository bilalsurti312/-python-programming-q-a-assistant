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embeddedFontLst>
    <p:embeddedFont>
      <p:font typeface="Urbanist" panose="020B0604020202020204" charset="0"/>
      <p:regular r:id="rId13"/>
      <p:bold r:id="rId14"/>
      <p:italic r:id="rId15"/>
      <p:boldItalic r:id="rId16"/>
    </p:embeddedFont>
    <p:embeddedFont>
      <p:font typeface="Urbanist Medium" panose="020B0604020202020204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" name="Google Shape;196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571500" y="1790700"/>
            <a:ext cx="11601450" cy="8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3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Python </a:t>
            </a:r>
            <a:r>
              <a:rPr lang="en-US" sz="6300" b="1" i="0" u="none" strike="noStrike" cap="none">
                <a:solidFill>
                  <a:srgbClr val="22C55E"/>
                </a:solidFill>
                <a:latin typeface="Urbanist"/>
                <a:ea typeface="Urbanist"/>
                <a:cs typeface="Urbanist"/>
                <a:sym typeface="Urbanist"/>
              </a:rPr>
              <a:t>RAG</a:t>
            </a:r>
            <a:r>
              <a:rPr lang="en-US" sz="63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 Assistant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571500" y="2895600"/>
            <a:ext cx="11049000" cy="4266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B82F6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Al Engineer Assessment | Analytics Vidhya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571500" y="4198590"/>
            <a:ext cx="11049000" cy="639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Bilal Surti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Computer Engineering Graduate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806005"/>
            <a:ext cx="5334000" cy="2362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86500" y="2939355"/>
            <a:ext cx="5334000" cy="20955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4"/>
          <p:cNvSpPr txBox="1"/>
          <p:nvPr/>
        </p:nvSpPr>
        <p:spPr>
          <a:xfrm>
            <a:off x="762000" y="571500"/>
            <a:ext cx="11401425" cy="5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Problem </a:t>
            </a:r>
            <a:r>
              <a:rPr lang="en-US" sz="3900" b="1" i="0" u="none" strike="noStrike" cap="none">
                <a:solidFill>
                  <a:srgbClr val="22C55E"/>
                </a:solidFill>
                <a:latin typeface="Urbanist"/>
                <a:ea typeface="Urbanist"/>
                <a:cs typeface="Urbanist"/>
                <a:sym typeface="Urbanist"/>
              </a:rPr>
              <a:t>Statement</a:t>
            </a:r>
            <a:endParaRPr/>
          </a:p>
        </p:txBody>
      </p:sp>
      <p:sp>
        <p:nvSpPr>
          <p:cNvPr id="96" name="Google Shape;96;p14"/>
          <p:cNvSpPr/>
          <p:nvPr/>
        </p:nvSpPr>
        <p:spPr>
          <a:xfrm>
            <a:off x="571500" y="571500"/>
            <a:ext cx="57150" cy="54471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4"/>
          <p:cNvSpPr txBox="1"/>
          <p:nvPr/>
        </p:nvSpPr>
        <p:spPr>
          <a:xfrm>
            <a:off x="866775" y="3101280"/>
            <a:ext cx="4980622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Information Fricton</a:t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866775" y="3615630"/>
            <a:ext cx="474345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Data science learners encounter massive friction navigating unstructured discussion forums like Stack Overflow. Researching specific coding patterns becomes time-intensive.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6581775" y="3234630"/>
            <a:ext cx="4980622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The Solution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6581775" y="3748980"/>
            <a:ext cx="4743450" cy="8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A production-ready Al system that provides accurate, context-grounded answers to Python questions while strictly preventing hallucinations.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105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1986855"/>
            <a:ext cx="5334000" cy="4000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5"/>
          <p:cNvSpPr txBox="1"/>
          <p:nvPr/>
        </p:nvSpPr>
        <p:spPr>
          <a:xfrm>
            <a:off x="762000" y="571500"/>
            <a:ext cx="11401425" cy="5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Dataset </a:t>
            </a:r>
            <a:r>
              <a:rPr lang="en-US" sz="3900" b="1" i="0" u="none" strike="noStrike" cap="none">
                <a:solidFill>
                  <a:srgbClr val="22C55E"/>
                </a:solidFill>
                <a:latin typeface="Urbanist"/>
                <a:ea typeface="Urbanist"/>
                <a:cs typeface="Urbanist"/>
                <a:sym typeface="Urbanist"/>
              </a:rPr>
              <a:t>Overview</a:t>
            </a:r>
            <a:endParaRPr/>
          </a:p>
        </p:txBody>
      </p:sp>
      <p:sp>
        <p:nvSpPr>
          <p:cNvPr id="108" name="Google Shape;108;p15"/>
          <p:cNvSpPr/>
          <p:nvPr/>
        </p:nvSpPr>
        <p:spPr>
          <a:xfrm>
            <a:off x="571500" y="571500"/>
            <a:ext cx="57150" cy="54471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15"/>
          <p:cNvSpPr txBox="1"/>
          <p:nvPr/>
        </p:nvSpPr>
        <p:spPr>
          <a:xfrm>
            <a:off x="571500" y="2663130"/>
            <a:ext cx="560070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The Knowledge Base</a:t>
            </a:r>
            <a:endParaRPr/>
          </a:p>
        </p:txBody>
      </p:sp>
      <p:sp>
        <p:nvSpPr>
          <p:cNvPr id="110" name="Google Shape;110;p15"/>
          <p:cNvSpPr txBox="1"/>
          <p:nvPr/>
        </p:nvSpPr>
        <p:spPr>
          <a:xfrm>
            <a:off x="571500" y="3177480"/>
            <a:ext cx="53340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Utilized a high-quality corpus of Stack Overflow Python Q&amp;A pairs to ensure industry-standard accuracy.</a:t>
            </a:r>
            <a:endParaRPr/>
          </a:p>
        </p:txBody>
      </p:sp>
      <p:pic>
        <p:nvPicPr>
          <p:cNvPr id="111" name="Google Shape;111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96025" y="1996380"/>
            <a:ext cx="5314950" cy="398145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15"/>
          <p:cNvSpPr txBox="1"/>
          <p:nvPr/>
        </p:nvSpPr>
        <p:spPr>
          <a:xfrm>
            <a:off x="952500" y="399663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50,000</a:t>
            </a:r>
            <a:r>
              <a:rPr lang="en-US" sz="150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Python QA Documents</a:t>
            </a:r>
            <a:endParaRPr/>
          </a:p>
        </p:txBody>
      </p:sp>
      <p:sp>
        <p:nvSpPr>
          <p:cNvPr id="113" name="Google Shape;113;p15"/>
          <p:cNvSpPr txBox="1"/>
          <p:nvPr/>
        </p:nvSpPr>
        <p:spPr>
          <a:xfrm>
            <a:off x="952500" y="443478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Rich Metadata: Title, Code, &amp; Tags</a:t>
            </a:r>
            <a:endParaRPr/>
          </a:p>
        </p:txBody>
      </p:sp>
      <p:sp>
        <p:nvSpPr>
          <p:cNvPr id="114" name="Google Shape;114;p15"/>
          <p:cNvSpPr txBox="1"/>
          <p:nvPr/>
        </p:nvSpPr>
        <p:spPr>
          <a:xfrm>
            <a:off x="952500" y="487293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Indexed for efficient semantic search</a:t>
            </a:r>
            <a:endParaRPr/>
          </a:p>
        </p:txBody>
      </p:sp>
      <p:pic>
        <p:nvPicPr>
          <p:cNvPr id="115" name="Google Shape;115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4020442"/>
            <a:ext cx="1809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71500" y="4458592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5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71500" y="4896742"/>
            <a:ext cx="180975" cy="219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16"/>
          <p:cNvPicPr preferRelativeResize="0"/>
          <p:nvPr/>
        </p:nvPicPr>
        <p:blipFill>
          <a:blip r:embed="rId3">
            <a:alphaModFix/>
          </a:blip>
          <a:srcRect/>
          <a:stretch/>
        </p:blipFill>
        <p:spPr>
          <a:xfrm>
            <a:off x="5524499" y="0"/>
            <a:ext cx="66675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16"/>
          <p:cNvSpPr txBox="1"/>
          <p:nvPr/>
        </p:nvSpPr>
        <p:spPr>
          <a:xfrm>
            <a:off x="762000" y="762000"/>
            <a:ext cx="4800600" cy="10894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System </a:t>
            </a:r>
            <a:r>
              <a:rPr lang="en-US" sz="3900" b="1" i="0" u="none" strike="noStrike" cap="none">
                <a:solidFill>
                  <a:srgbClr val="22C55E"/>
                </a:solidFill>
                <a:latin typeface="Urbanist"/>
                <a:ea typeface="Urbanist"/>
                <a:cs typeface="Urbanist"/>
                <a:sym typeface="Urbanist"/>
              </a:rPr>
              <a:t>Architecture</a:t>
            </a:r>
            <a:endParaRPr/>
          </a:p>
        </p:txBody>
      </p:sp>
      <p:sp>
        <p:nvSpPr>
          <p:cNvPr id="124" name="Google Shape;124;p16"/>
          <p:cNvSpPr/>
          <p:nvPr/>
        </p:nvSpPr>
        <p:spPr>
          <a:xfrm>
            <a:off x="571500" y="762000"/>
            <a:ext cx="57150" cy="1089421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16"/>
          <p:cNvSpPr txBox="1"/>
          <p:nvPr/>
        </p:nvSpPr>
        <p:spPr>
          <a:xfrm>
            <a:off x="571500" y="2232421"/>
            <a:ext cx="47625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Our modular pipeline ensures each request is verified against the knowledge base before generation.</a:t>
            </a:r>
            <a:endParaRPr/>
          </a:p>
        </p:txBody>
      </p:sp>
      <p:sp>
        <p:nvSpPr>
          <p:cNvPr id="127" name="Google Shape;127;p16"/>
          <p:cNvSpPr txBox="1"/>
          <p:nvPr/>
        </p:nvSpPr>
        <p:spPr>
          <a:xfrm>
            <a:off x="952500" y="3337321"/>
            <a:ext cx="43815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Dataset</a:t>
            </a:r>
            <a:r>
              <a:rPr lang="en-US" sz="150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→ Ingestion Layer</a:t>
            </a:r>
            <a:endParaRPr/>
          </a:p>
        </p:txBody>
      </p:sp>
      <p:sp>
        <p:nvSpPr>
          <p:cNvPr id="128" name="Google Shape;128;p16"/>
          <p:cNvSpPr txBox="1"/>
          <p:nvPr/>
        </p:nvSpPr>
        <p:spPr>
          <a:xfrm>
            <a:off x="952500" y="3775471"/>
            <a:ext cx="43815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Embeddings</a:t>
            </a:r>
            <a:r>
              <a:rPr lang="en-US" sz="150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→ Vector representation</a:t>
            </a:r>
            <a:endParaRPr/>
          </a:p>
        </p:txBody>
      </p:sp>
      <p:sp>
        <p:nvSpPr>
          <p:cNvPr id="129" name="Google Shape;129;p16"/>
          <p:cNvSpPr txBox="1"/>
          <p:nvPr/>
        </p:nvSpPr>
        <p:spPr>
          <a:xfrm>
            <a:off x="952500" y="4213621"/>
            <a:ext cx="43815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ChromaDB</a:t>
            </a:r>
            <a:r>
              <a:rPr lang="en-US" sz="150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→ Persistence engine</a:t>
            </a:r>
            <a:endParaRPr/>
          </a:p>
        </p:txBody>
      </p:sp>
      <p:sp>
        <p:nvSpPr>
          <p:cNvPr id="130" name="Google Shape;130;p16"/>
          <p:cNvSpPr txBox="1"/>
          <p:nvPr/>
        </p:nvSpPr>
        <p:spPr>
          <a:xfrm>
            <a:off x="952500" y="4651771"/>
            <a:ext cx="43815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Retriever</a:t>
            </a:r>
            <a:r>
              <a:rPr lang="en-US" sz="150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→ Similarity matching</a:t>
            </a:r>
            <a:endParaRPr/>
          </a:p>
        </p:txBody>
      </p:sp>
      <p:sp>
        <p:nvSpPr>
          <p:cNvPr id="131" name="Google Shape;131;p16"/>
          <p:cNvSpPr txBox="1"/>
          <p:nvPr/>
        </p:nvSpPr>
        <p:spPr>
          <a:xfrm>
            <a:off x="952500" y="5089921"/>
            <a:ext cx="43815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Groq LLM</a:t>
            </a:r>
            <a:r>
              <a:rPr lang="en-US" sz="150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→ Synthesis engine</a:t>
            </a:r>
            <a:endParaRPr/>
          </a:p>
        </p:txBody>
      </p:sp>
      <p:sp>
        <p:nvSpPr>
          <p:cNvPr id="132" name="Google Shape;132;p16"/>
          <p:cNvSpPr txBox="1"/>
          <p:nvPr/>
        </p:nvSpPr>
        <p:spPr>
          <a:xfrm>
            <a:off x="952500" y="5528071"/>
            <a:ext cx="43815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Response</a:t>
            </a:r>
            <a:r>
              <a:rPr lang="en-US" sz="150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→ Grounded Answer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17"/>
          <p:cNvSpPr txBox="1"/>
          <p:nvPr/>
        </p:nvSpPr>
        <p:spPr>
          <a:xfrm>
            <a:off x="762000" y="571500"/>
            <a:ext cx="11401425" cy="5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Data </a:t>
            </a:r>
            <a:r>
              <a:rPr lang="en-US" sz="3900" b="1" i="0" u="none" strike="noStrike" cap="none">
                <a:solidFill>
                  <a:srgbClr val="22C55E"/>
                </a:solidFill>
                <a:latin typeface="Urbanist"/>
                <a:ea typeface="Urbanist"/>
                <a:cs typeface="Urbanist"/>
                <a:sym typeface="Urbanist"/>
              </a:rPr>
              <a:t>Processing</a:t>
            </a:r>
            <a:r>
              <a:rPr lang="en-US" sz="39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 Pipeline</a:t>
            </a:r>
            <a:endParaRPr/>
          </a:p>
        </p:txBody>
      </p:sp>
      <p:sp>
        <p:nvSpPr>
          <p:cNvPr id="139" name="Google Shape;139;p17"/>
          <p:cNvSpPr/>
          <p:nvPr/>
        </p:nvSpPr>
        <p:spPr>
          <a:xfrm>
            <a:off x="571500" y="571500"/>
            <a:ext cx="57150" cy="54471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7"/>
          <p:cNvSpPr txBox="1"/>
          <p:nvPr/>
        </p:nvSpPr>
        <p:spPr>
          <a:xfrm>
            <a:off x="952500" y="3110805"/>
            <a:ext cx="106680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Ingestion:</a:t>
            </a:r>
            <a:r>
              <a:rPr lang="en-US" sz="150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Processing 50k Stack Overflow pairs into standardized LangChain Document formats.</a:t>
            </a:r>
            <a:endParaRPr/>
          </a:p>
        </p:txBody>
      </p:sp>
      <p:sp>
        <p:nvSpPr>
          <p:cNvPr id="141" name="Google Shape;141;p17"/>
          <p:cNvSpPr txBox="1"/>
          <p:nvPr/>
        </p:nvSpPr>
        <p:spPr>
          <a:xfrm>
            <a:off x="952500" y="3548955"/>
            <a:ext cx="106680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Sanitization:</a:t>
            </a:r>
            <a:r>
              <a:rPr lang="en-US" sz="150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Cleaning HTML and isolating Python code blocks for clear semantic extraction.</a:t>
            </a:r>
            <a:endParaRPr/>
          </a:p>
        </p:txBody>
      </p:sp>
      <p:sp>
        <p:nvSpPr>
          <p:cNvPr id="142" name="Google Shape;142;p17"/>
          <p:cNvSpPr txBox="1"/>
          <p:nvPr/>
        </p:nvSpPr>
        <p:spPr>
          <a:xfrm>
            <a:off x="952500" y="3987105"/>
            <a:ext cx="106680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Embedding:</a:t>
            </a:r>
            <a:r>
              <a:rPr lang="en-US" sz="150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Mapping text into dense vector space using HuggingFace sentence-transformers.</a:t>
            </a:r>
            <a:endParaRPr/>
          </a:p>
        </p:txBody>
      </p:sp>
      <p:sp>
        <p:nvSpPr>
          <p:cNvPr id="143" name="Google Shape;143;p17"/>
          <p:cNvSpPr txBox="1"/>
          <p:nvPr/>
        </p:nvSpPr>
        <p:spPr>
          <a:xfrm>
            <a:off x="952500" y="4425255"/>
            <a:ext cx="106680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Indexing:</a:t>
            </a:r>
            <a:r>
              <a:rPr lang="en-US" sz="150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Fast semantic retrieval using ChromaDB persistence for high-speed lookups.</a:t>
            </a:r>
            <a:endParaRPr/>
          </a:p>
        </p:txBody>
      </p:sp>
      <p:pic>
        <p:nvPicPr>
          <p:cNvPr id="144" name="Google Shape;144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134617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3572767"/>
            <a:ext cx="23812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4010917"/>
            <a:ext cx="1809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71500" y="4449067"/>
            <a:ext cx="209550" cy="219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1986855"/>
            <a:ext cx="5334000" cy="4000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18"/>
          <p:cNvSpPr txBox="1"/>
          <p:nvPr/>
        </p:nvSpPr>
        <p:spPr>
          <a:xfrm>
            <a:off x="762000" y="571500"/>
            <a:ext cx="11401425" cy="5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RAG </a:t>
            </a:r>
            <a:r>
              <a:rPr lang="en-US" sz="3900" b="1" i="0" u="none" strike="noStrike" cap="none">
                <a:solidFill>
                  <a:srgbClr val="22C55E"/>
                </a:solidFill>
                <a:latin typeface="Urbanist"/>
                <a:ea typeface="Urbanist"/>
                <a:cs typeface="Urbanist"/>
                <a:sym typeface="Urbanist"/>
              </a:rPr>
              <a:t>Mechanics</a:t>
            </a:r>
            <a:endParaRPr/>
          </a:p>
        </p:txBody>
      </p:sp>
      <p:sp>
        <p:nvSpPr>
          <p:cNvPr id="155" name="Google Shape;155;p18"/>
          <p:cNvSpPr/>
          <p:nvPr/>
        </p:nvSpPr>
        <p:spPr>
          <a:xfrm>
            <a:off x="571500" y="571500"/>
            <a:ext cx="57150" cy="54471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8"/>
          <p:cNvSpPr txBox="1"/>
          <p:nvPr/>
        </p:nvSpPr>
        <p:spPr>
          <a:xfrm>
            <a:off x="571500" y="2663130"/>
            <a:ext cx="560070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Context-Grounded Logic</a:t>
            </a:r>
            <a:endParaRPr/>
          </a:p>
        </p:txBody>
      </p:sp>
      <p:sp>
        <p:nvSpPr>
          <p:cNvPr id="157" name="Google Shape;157;p18"/>
          <p:cNvSpPr txBox="1"/>
          <p:nvPr/>
        </p:nvSpPr>
        <p:spPr>
          <a:xfrm>
            <a:off x="571500" y="3177480"/>
            <a:ext cx="53340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The system prioritizes retrieval quality to eliminate LLM hallucinations.</a:t>
            </a:r>
            <a:endParaRPr/>
          </a:p>
        </p:txBody>
      </p:sp>
      <p:pic>
        <p:nvPicPr>
          <p:cNvPr id="158" name="Google Shape;158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96025" y="1996380"/>
            <a:ext cx="5314950" cy="39814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18"/>
          <p:cNvSpPr txBox="1"/>
          <p:nvPr/>
        </p:nvSpPr>
        <p:spPr>
          <a:xfrm>
            <a:off x="952500" y="399663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Top-K Retrieval:</a:t>
            </a:r>
            <a:r>
              <a:rPr lang="en-US" sz="150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Pulling the most relevant context.</a:t>
            </a:r>
            <a:endParaRPr/>
          </a:p>
        </p:txBody>
      </p:sp>
      <p:sp>
        <p:nvSpPr>
          <p:cNvPr id="160" name="Google Shape;160;p18"/>
          <p:cNvSpPr txBox="1"/>
          <p:nvPr/>
        </p:nvSpPr>
        <p:spPr>
          <a:xfrm>
            <a:off x="952500" y="443478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Guardrail Logic:</a:t>
            </a:r>
            <a:r>
              <a:rPr lang="en-US" sz="150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Enforcing strict similarity thresholds.</a:t>
            </a:r>
            <a:endParaRPr/>
          </a:p>
        </p:txBody>
      </p:sp>
      <p:sp>
        <p:nvSpPr>
          <p:cNvPr id="161" name="Google Shape;161;p18"/>
          <p:cNvSpPr txBox="1"/>
          <p:nvPr/>
        </p:nvSpPr>
        <p:spPr>
          <a:xfrm>
            <a:off x="952500" y="487293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Groq Llama 3.1:</a:t>
            </a:r>
            <a:r>
              <a:rPr lang="en-US" sz="150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Ultra-fast synthesis of the final answer.</a:t>
            </a:r>
            <a:endParaRPr/>
          </a:p>
        </p:txBody>
      </p:sp>
      <p:pic>
        <p:nvPicPr>
          <p:cNvPr id="162" name="Google Shape;162;p18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4020442"/>
            <a:ext cx="1809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18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71500" y="4458592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" name="Google Shape;164;p18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71500" y="4896742"/>
            <a:ext cx="209550" cy="219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Google Shape;169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19"/>
          <p:cNvSpPr txBox="1"/>
          <p:nvPr/>
        </p:nvSpPr>
        <p:spPr>
          <a:xfrm>
            <a:off x="762000" y="571500"/>
            <a:ext cx="11401425" cy="5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API </a:t>
            </a:r>
            <a:r>
              <a:rPr lang="en-US" sz="3900" b="1" i="0" u="none" strike="noStrike" cap="none">
                <a:solidFill>
                  <a:srgbClr val="22C55E"/>
                </a:solidFill>
                <a:latin typeface="Urbanist"/>
                <a:ea typeface="Urbanist"/>
                <a:cs typeface="Urbanist"/>
                <a:sym typeface="Urbanist"/>
              </a:rPr>
              <a:t>Documentation</a:t>
            </a:r>
            <a:endParaRPr/>
          </a:p>
        </p:txBody>
      </p:sp>
      <p:sp>
        <p:nvSpPr>
          <p:cNvPr id="172" name="Google Shape;172;p19"/>
          <p:cNvSpPr/>
          <p:nvPr/>
        </p:nvSpPr>
        <p:spPr>
          <a:xfrm>
            <a:off x="571500" y="571500"/>
            <a:ext cx="57150" cy="54471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9"/>
          <p:cNvSpPr txBox="1"/>
          <p:nvPr/>
        </p:nvSpPr>
        <p:spPr>
          <a:xfrm>
            <a:off x="304800" y="2868517"/>
            <a:ext cx="56007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Swagger UI Implementation</a:t>
            </a:r>
            <a:endParaRPr/>
          </a:p>
        </p:txBody>
      </p:sp>
      <p:sp>
        <p:nvSpPr>
          <p:cNvPr id="174" name="Google Shape;174;p19"/>
          <p:cNvSpPr txBox="1"/>
          <p:nvPr/>
        </p:nvSpPr>
        <p:spPr>
          <a:xfrm>
            <a:off x="304800" y="3428992"/>
            <a:ext cx="53340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FastAPI provides an interactive interface at /docs to verify system health and core endpoints.</a:t>
            </a:r>
            <a:endParaRPr/>
          </a:p>
        </p:txBody>
      </p:sp>
      <p:sp>
        <p:nvSpPr>
          <p:cNvPr id="175" name="Google Shape;175;p19"/>
          <p:cNvSpPr txBox="1"/>
          <p:nvPr/>
        </p:nvSpPr>
        <p:spPr>
          <a:xfrm>
            <a:off x="952500" y="4220467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GET /health:</a:t>
            </a:r>
            <a:r>
              <a:rPr lang="en-US" sz="150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Service liveness check.</a:t>
            </a:r>
            <a:endParaRPr/>
          </a:p>
        </p:txBody>
      </p:sp>
      <p:sp>
        <p:nvSpPr>
          <p:cNvPr id="176" name="Google Shape;176;p19"/>
          <p:cNvSpPr txBox="1"/>
          <p:nvPr/>
        </p:nvSpPr>
        <p:spPr>
          <a:xfrm>
            <a:off x="952500" y="4658617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POST /ask:</a:t>
            </a:r>
            <a:r>
              <a:rPr lang="en-US" sz="150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Primary Q&amp;A endpoint.</a:t>
            </a:r>
            <a:endParaRPr/>
          </a:p>
        </p:txBody>
      </p:sp>
      <p:pic>
        <p:nvPicPr>
          <p:cNvPr id="177" name="Google Shape;177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4244280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8" name="Google Shape;178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4682430"/>
            <a:ext cx="23812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9" name="Google Shape;179;p19" title="API Health.png"/>
          <p:cNvPicPr preferRelativeResize="0"/>
          <p:nvPr/>
        </p:nvPicPr>
        <p:blipFill rotWithShape="1">
          <a:blip r:embed="rId6">
            <a:alphaModFix/>
          </a:blip>
          <a:srcRect l="-4753" t="-14451" r="-1101" b="-5872"/>
          <a:stretch/>
        </p:blipFill>
        <p:spPr>
          <a:xfrm>
            <a:off x="4953725" y="1063875"/>
            <a:ext cx="7285900" cy="4730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" name="Google Shape;184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5" name="Google Shape;185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1986855"/>
            <a:ext cx="5334000" cy="4000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20"/>
          <p:cNvSpPr txBox="1"/>
          <p:nvPr/>
        </p:nvSpPr>
        <p:spPr>
          <a:xfrm>
            <a:off x="762000" y="571500"/>
            <a:ext cx="11401425" cy="5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Grounded </a:t>
            </a:r>
            <a:r>
              <a:rPr lang="en-US" sz="3900" b="1" i="0" u="none" strike="noStrike" cap="none">
                <a:solidFill>
                  <a:srgbClr val="22C55E"/>
                </a:solidFill>
                <a:latin typeface="Urbanist"/>
                <a:ea typeface="Urbanist"/>
                <a:cs typeface="Urbanist"/>
                <a:sym typeface="Urbanist"/>
              </a:rPr>
              <a:t>Capability</a:t>
            </a:r>
            <a:endParaRPr/>
          </a:p>
        </p:txBody>
      </p:sp>
      <p:sp>
        <p:nvSpPr>
          <p:cNvPr id="187" name="Google Shape;187;p20"/>
          <p:cNvSpPr/>
          <p:nvPr/>
        </p:nvSpPr>
        <p:spPr>
          <a:xfrm>
            <a:off x="571500" y="571500"/>
            <a:ext cx="57150" cy="54471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20"/>
          <p:cNvSpPr txBox="1"/>
          <p:nvPr/>
        </p:nvSpPr>
        <p:spPr>
          <a:xfrm>
            <a:off x="571500" y="1520130"/>
            <a:ext cx="56007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Real Response Example</a:t>
            </a:r>
            <a:endParaRPr/>
          </a:p>
        </p:txBody>
      </p:sp>
      <p:sp>
        <p:nvSpPr>
          <p:cNvPr id="189" name="Google Shape;189;p20"/>
          <p:cNvSpPr txBox="1"/>
          <p:nvPr/>
        </p:nvSpPr>
        <p:spPr>
          <a:xfrm>
            <a:off x="571500" y="2289718"/>
            <a:ext cx="53340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Demonstrating a valid Python query. The system retrieves precise context and maintains code integrity.</a:t>
            </a:r>
            <a:endParaRPr/>
          </a:p>
        </p:txBody>
      </p:sp>
      <p:sp>
        <p:nvSpPr>
          <p:cNvPr id="190" name="Google Shape;190;p20"/>
          <p:cNvSpPr txBox="1"/>
          <p:nvPr/>
        </p:nvSpPr>
        <p:spPr>
          <a:xfrm>
            <a:off x="6172200" y="2033505"/>
            <a:ext cx="49530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Query:</a:t>
            </a:r>
            <a:r>
              <a:rPr lang="en-US" sz="150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"What is a Python decorator?"</a:t>
            </a:r>
            <a:endParaRPr/>
          </a:p>
        </p:txBody>
      </p:sp>
      <p:sp>
        <p:nvSpPr>
          <p:cNvPr id="191" name="Google Shape;191;p20"/>
          <p:cNvSpPr txBox="1"/>
          <p:nvPr/>
        </p:nvSpPr>
        <p:spPr>
          <a:xfrm>
            <a:off x="6172200" y="2397005"/>
            <a:ext cx="49530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Accuracy:</a:t>
            </a:r>
            <a:r>
              <a:rPr lang="en-US" sz="150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High semantic overlap with SO data.</a:t>
            </a:r>
            <a:endParaRPr/>
          </a:p>
        </p:txBody>
      </p:sp>
      <p:sp>
        <p:nvSpPr>
          <p:cNvPr id="192" name="Google Shape;192;p20"/>
          <p:cNvSpPr txBox="1"/>
          <p:nvPr/>
        </p:nvSpPr>
        <p:spPr>
          <a:xfrm>
            <a:off x="6172200" y="2789405"/>
            <a:ext cx="49530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Result:</a:t>
            </a:r>
            <a:r>
              <a:rPr lang="en-US" sz="150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Comprehensive code-first explanation.</a:t>
            </a:r>
            <a:endParaRPr/>
          </a:p>
        </p:txBody>
      </p:sp>
      <p:pic>
        <p:nvPicPr>
          <p:cNvPr id="193" name="Google Shape;193;p20" title="Response.png"/>
          <p:cNvPicPr preferRelativeResize="0"/>
          <p:nvPr/>
        </p:nvPicPr>
        <p:blipFill rotWithShape="1">
          <a:blip r:embed="rId5">
            <a:alphaModFix/>
          </a:blip>
          <a:srcRect t="18020" b="18013"/>
          <a:stretch/>
        </p:blipFill>
        <p:spPr>
          <a:xfrm>
            <a:off x="74575" y="3181800"/>
            <a:ext cx="12042876" cy="36625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8" name="Google Shape;198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9" name="Google Shape;199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377380"/>
            <a:ext cx="5429250" cy="3289994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21"/>
          <p:cNvSpPr txBox="1"/>
          <p:nvPr/>
        </p:nvSpPr>
        <p:spPr>
          <a:xfrm>
            <a:off x="762000" y="571500"/>
            <a:ext cx="11401425" cy="5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Guardrails &amp; </a:t>
            </a:r>
            <a:r>
              <a:rPr lang="en-US" sz="3900" b="1" i="0" u="none" strike="noStrike" cap="none">
                <a:solidFill>
                  <a:srgbClr val="22C55E"/>
                </a:solidFill>
                <a:latin typeface="Urbanist"/>
                <a:ea typeface="Urbanist"/>
                <a:cs typeface="Urbanist"/>
                <a:sym typeface="Urbanist"/>
              </a:rPr>
              <a:t>Sources</a:t>
            </a:r>
            <a:endParaRPr/>
          </a:p>
        </p:txBody>
      </p:sp>
      <p:sp>
        <p:nvSpPr>
          <p:cNvPr id="201" name="Google Shape;201;p21"/>
          <p:cNvSpPr/>
          <p:nvPr/>
        </p:nvSpPr>
        <p:spPr>
          <a:xfrm>
            <a:off x="571500" y="571500"/>
            <a:ext cx="57150" cy="54471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1"/>
          <p:cNvSpPr txBox="1"/>
          <p:nvPr/>
        </p:nvSpPr>
        <p:spPr>
          <a:xfrm>
            <a:off x="571500" y="1480480"/>
            <a:ext cx="57006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Hallucination Prevention</a:t>
            </a:r>
            <a:endParaRPr/>
          </a:p>
        </p:txBody>
      </p:sp>
      <p:sp>
        <p:nvSpPr>
          <p:cNvPr id="203" name="Google Shape;203;p21"/>
          <p:cNvSpPr txBox="1"/>
          <p:nvPr/>
        </p:nvSpPr>
        <p:spPr>
          <a:xfrm>
            <a:off x="571500" y="6414650"/>
            <a:ext cx="5429400" cy="1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Safely rejecting irrelevant (FIFA) queries.</a:t>
            </a:r>
            <a:endParaRPr/>
          </a:p>
        </p:txBody>
      </p:sp>
      <p:sp>
        <p:nvSpPr>
          <p:cNvPr id="204" name="Google Shape;204;p21"/>
          <p:cNvSpPr txBox="1"/>
          <p:nvPr/>
        </p:nvSpPr>
        <p:spPr>
          <a:xfrm>
            <a:off x="6148313" y="1480468"/>
            <a:ext cx="57006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Source Attribution</a:t>
            </a:r>
            <a:endParaRPr/>
          </a:p>
        </p:txBody>
      </p:sp>
      <p:sp>
        <p:nvSpPr>
          <p:cNvPr id="205" name="Google Shape;205;p21"/>
          <p:cNvSpPr txBox="1"/>
          <p:nvPr/>
        </p:nvSpPr>
        <p:spPr>
          <a:xfrm>
            <a:off x="6148325" y="6414650"/>
            <a:ext cx="5429400" cy="1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Transparent mapping to original SO IDs.</a:t>
            </a:r>
            <a:endParaRPr/>
          </a:p>
        </p:txBody>
      </p:sp>
      <p:pic>
        <p:nvPicPr>
          <p:cNvPr id="206" name="Google Shape;206;p2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2699946"/>
            <a:ext cx="5805277" cy="275055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2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872900" y="2008950"/>
            <a:ext cx="6251477" cy="41325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2" name="Google Shape;212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3" name="Google Shape;213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95975" y="2326927"/>
            <a:ext cx="5724525" cy="2200275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22"/>
          <p:cNvSpPr txBox="1"/>
          <p:nvPr/>
        </p:nvSpPr>
        <p:spPr>
          <a:xfrm>
            <a:off x="762000" y="571500"/>
            <a:ext cx="11401425" cy="5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Scale &amp; </a:t>
            </a:r>
            <a:r>
              <a:rPr lang="en-US" sz="3900" b="1" i="0" u="none" strike="noStrike" cap="none">
                <a:solidFill>
                  <a:srgbClr val="22C55E"/>
                </a:solidFill>
                <a:latin typeface="Urbanist"/>
                <a:ea typeface="Urbanist"/>
                <a:cs typeface="Urbanist"/>
                <a:sym typeface="Urbanist"/>
              </a:rPr>
              <a:t>Future</a:t>
            </a:r>
            <a:endParaRPr/>
          </a:p>
        </p:txBody>
      </p:sp>
      <p:sp>
        <p:nvSpPr>
          <p:cNvPr id="215" name="Google Shape;215;p22"/>
          <p:cNvSpPr/>
          <p:nvPr/>
        </p:nvSpPr>
        <p:spPr>
          <a:xfrm>
            <a:off x="571500" y="571500"/>
            <a:ext cx="57150" cy="54471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22"/>
          <p:cNvSpPr txBox="1"/>
          <p:nvPr/>
        </p:nvSpPr>
        <p:spPr>
          <a:xfrm>
            <a:off x="571500" y="5098702"/>
            <a:ext cx="11049000" cy="319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Thank you! | </a:t>
            </a:r>
            <a:r>
              <a:rPr lang="en-US" sz="1800" b="0" i="0" u="none" strike="noStrike" cap="none">
                <a:solidFill>
                  <a:srgbClr val="22C55E"/>
                </a:solidFill>
                <a:latin typeface="Urbanist"/>
                <a:ea typeface="Urbanist"/>
                <a:cs typeface="Urbanist"/>
                <a:sym typeface="Urbanist"/>
              </a:rPr>
              <a:t>Bilal Surti</a:t>
            </a:r>
            <a:endParaRPr/>
          </a:p>
        </p:txBody>
      </p:sp>
      <p:sp>
        <p:nvSpPr>
          <p:cNvPr id="217" name="Google Shape;217;p22"/>
          <p:cNvSpPr txBox="1"/>
          <p:nvPr/>
        </p:nvSpPr>
        <p:spPr>
          <a:xfrm>
            <a:off x="571500" y="2417415"/>
            <a:ext cx="519064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Roadmap to Production</a:t>
            </a:r>
            <a:endParaRPr/>
          </a:p>
        </p:txBody>
      </p:sp>
      <p:sp>
        <p:nvSpPr>
          <p:cNvPr id="218" name="Google Shape;218;p22"/>
          <p:cNvSpPr txBox="1"/>
          <p:nvPr/>
        </p:nvSpPr>
        <p:spPr>
          <a:xfrm>
            <a:off x="6286500" y="2717452"/>
            <a:ext cx="4943475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0" b="1" i="0" u="none" strike="noStrike" cap="none">
                <a:solidFill>
                  <a:srgbClr val="22C55E"/>
                </a:solidFill>
                <a:latin typeface="Urbanist"/>
                <a:ea typeface="Urbanist"/>
                <a:cs typeface="Urbanist"/>
                <a:sym typeface="Urbanist"/>
              </a:rPr>
              <a:t>100%</a:t>
            </a:r>
            <a:endParaRPr/>
          </a:p>
        </p:txBody>
      </p:sp>
      <p:sp>
        <p:nvSpPr>
          <p:cNvPr id="219" name="Google Shape;219;p22"/>
          <p:cNvSpPr txBox="1"/>
          <p:nvPr/>
        </p:nvSpPr>
        <p:spPr>
          <a:xfrm>
            <a:off x="6286500" y="3860452"/>
            <a:ext cx="4943475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GROUNDED</a:t>
            </a:r>
            <a:endParaRPr/>
          </a:p>
        </p:txBody>
      </p:sp>
      <p:sp>
        <p:nvSpPr>
          <p:cNvPr id="220" name="Google Shape;220;p22"/>
          <p:cNvSpPr txBox="1"/>
          <p:nvPr/>
        </p:nvSpPr>
        <p:spPr>
          <a:xfrm>
            <a:off x="952500" y="2855565"/>
            <a:ext cx="4686777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Redis Caching:</a:t>
            </a:r>
            <a:r>
              <a:rPr lang="en-US" sz="150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Sub-10ms response for repeat queries</a:t>
            </a:r>
            <a:endParaRPr dirty="0"/>
          </a:p>
        </p:txBody>
      </p:sp>
      <p:sp>
        <p:nvSpPr>
          <p:cNvPr id="221" name="Google Shape;221;p22"/>
          <p:cNvSpPr txBox="1"/>
          <p:nvPr/>
        </p:nvSpPr>
        <p:spPr>
          <a:xfrm>
            <a:off x="942975" y="3266925"/>
            <a:ext cx="4562475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Async Scaling:</a:t>
            </a:r>
            <a:r>
              <a:rPr lang="en-US" sz="150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Handling 100+ concurrent requests.</a:t>
            </a:r>
            <a:endParaRPr dirty="0"/>
          </a:p>
        </p:txBody>
      </p:sp>
      <p:sp>
        <p:nvSpPr>
          <p:cNvPr id="222" name="Google Shape;222;p22"/>
          <p:cNvSpPr txBox="1"/>
          <p:nvPr/>
        </p:nvSpPr>
        <p:spPr>
          <a:xfrm>
            <a:off x="952500" y="3731865"/>
            <a:ext cx="4562475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Hybrid Search:</a:t>
            </a:r>
            <a:r>
              <a:rPr lang="en-US" sz="150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BM25 + Vector for edge-case accuracy.</a:t>
            </a:r>
            <a:endParaRPr/>
          </a:p>
        </p:txBody>
      </p:sp>
      <p:pic>
        <p:nvPicPr>
          <p:cNvPr id="223" name="Google Shape;223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2879377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4" name="Google Shape;224;p22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3317527"/>
            <a:ext cx="26670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5" name="Google Shape;225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71500" y="3755677"/>
            <a:ext cx="209550" cy="219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387</Words>
  <Application>Microsoft Office PowerPoint</Application>
  <PresentationFormat>Widescreen</PresentationFormat>
  <Paragraphs>57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Urbanist</vt:lpstr>
      <vt:lpstr>Calibri</vt:lpstr>
      <vt:lpstr>Urbanist Medium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Bilal Surti</dc:creator>
  <cp:lastModifiedBy>Bilal Surti</cp:lastModifiedBy>
  <cp:revision>2</cp:revision>
  <dcterms:modified xsi:type="dcterms:W3CDTF">2026-06-13T07:31:54Z</dcterms:modified>
</cp:coreProperties>
</file>