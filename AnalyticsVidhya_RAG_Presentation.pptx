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000" b="1">
                <a:solidFill>
                  <a:srgbClr val="FFFFFF"/>
                </a:solidFill>
                <a:latin typeface="Poppins"/>
              </a:defRPr>
            </a:pPr>
            <a:r>
              <a:t>Python Programming</a:t>
            </a:r>
            <a:br/>
            <a:r>
              <a:t>Q&amp;A Assistant</a:t>
            </a:r>
          </a:p>
          <a:p>
            <a:pPr>
              <a:spcAft>
                <a:spcPts val="3600"/>
              </a:spcAft>
              <a:defRPr sz="2200">
                <a:solidFill>
                  <a:srgbClr val="3B82F6"/>
                </a:solidFill>
                <a:latin typeface="Poppins"/>
              </a:defRPr>
            </a:pPr>
            <a:r>
              <a:t>Grounded Ed-Tech Knowledge Engine</a:t>
            </a:r>
          </a:p>
          <a:p>
            <a:pPr>
              <a:defRPr sz="1800">
                <a:solidFill>
                  <a:srgbClr val="94A3B8"/>
                </a:solidFill>
                <a:latin typeface="Lato"/>
              </a:defRPr>
            </a:pPr>
            <a:r>
              <a:t>Bilal Surti</a:t>
            </a:r>
            <a:br/>
            <a:r>
              <a:t>Computer Engineering Graduate | Aspiring AI/ML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22C55E"/>
                </a:solidFill>
                <a:latin typeface="Poppins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Information Friction in Ed-Tech: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• Novice data science learners face immense friction when searching through thousands of unorganized and duplicate Stack Overflow threads.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• General-purpose LLMs lack technical constraints, frequently hallucinating wrong code parameters or outdated library syntax.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The Solution: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• An AI-powered assistant built strictly using a verified, local Python Q&amp;A dataset.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• Employs deterministic hallucination prevention. Out-of-knowledge questions are rejected safely rather than guessed, ensuring student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22C55E"/>
                </a:solidFill>
                <a:latin typeface="Poppins"/>
              </a:defRPr>
            </a:pPr>
            <a:r>
              <a:t>Dataset Overview: Verified Knowledge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59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1F5F9"/>
                </a:solidFill>
                <a:latin typeface="Lato"/>
              </a:defRPr>
            </a:pPr>
            <a:r>
              <a:t>• Ingested 50,000 high-quality Python Q&amp;A pairs directly from Stack Overflow.</a:t>
            </a:r>
          </a:p>
          <a:p>
            <a:pPr>
              <a:spcAft>
                <a:spcPts val="1200"/>
              </a:spcAft>
              <a:defRPr sz="2200">
                <a:solidFill>
                  <a:srgbClr val="F1F5F9"/>
                </a:solidFill>
                <a:latin typeface="Lato"/>
              </a:defRPr>
            </a:pPr>
            <a:r>
              <a:t>• Extracted Features: Title, Question Body, Answer Body, and Tags to create rich, context-aware indexing blocks.</a:t>
            </a:r>
          </a:p>
          <a:p>
            <a:pPr>
              <a:spcAft>
                <a:spcPts val="1200"/>
              </a:spcAft>
              <a:defRPr sz="2200">
                <a:solidFill>
                  <a:srgbClr val="F1F5F9"/>
                </a:solidFill>
                <a:latin typeface="Lato"/>
              </a:defRPr>
            </a:pPr>
            <a:r>
              <a:t>• Text Pre-processing: Cleaned messy HTML tags, decoded characters, and parsed markdown sections to guarantee high signal-to-noise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22C55E"/>
                </a:solidFill>
                <a:latin typeface="Poppins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Architecture Flow: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1. Stack Overflow Dataset Ingestion (50,000 pairs)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2. Embedding Generation (HuggingFace all-MiniLM-L6-v2)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3. Qdrant Cloud Vector Database Indexing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4. Similarity Search Retrieval (Top-K matching)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5. Groq Inference Engine (Llama 3.1 8B Instant) -&gt; Synthesized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22C55E"/>
                </a:solidFill>
                <a:latin typeface="Poppins"/>
              </a:defRPr>
            </a:pPr>
            <a:r>
              <a:t>Data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1F5F9"/>
                </a:solidFill>
                <a:latin typeface="Lato"/>
              </a:defRPr>
            </a:pPr>
            <a:r>
              <a:t>1. Load Dataset: Programmatically processed Stack Overflow CSV records via Pandas.</a:t>
            </a:r>
          </a:p>
          <a:p>
            <a:pPr>
              <a:spcAft>
                <a:spcPts val="1200"/>
              </a:spcAft>
              <a:defRPr sz="2200">
                <a:solidFill>
                  <a:srgbClr val="F1F5F9"/>
                </a:solidFill>
                <a:latin typeface="Lato"/>
              </a:defRPr>
            </a:pPr>
            <a:r>
              <a:t>2. Transformation: Sanitized syntax, formatted code segments, and constructed unified LangChain Document objects.</a:t>
            </a:r>
          </a:p>
          <a:p>
            <a:pPr>
              <a:spcAft>
                <a:spcPts val="1200"/>
              </a:spcAft>
              <a:defRPr sz="2200">
                <a:solidFill>
                  <a:srgbClr val="F1F5F9"/>
                </a:solidFill>
                <a:latin typeface="Lato"/>
              </a:defRPr>
            </a:pPr>
            <a:r>
              <a:t>3. Vectorization: Standardized text arrays into dense 384-dimensional mathematical vectors using SentenceTransformers.</a:t>
            </a:r>
          </a:p>
          <a:p>
            <a:pPr>
              <a:spcAft>
                <a:spcPts val="1200"/>
              </a:spcAft>
              <a:defRPr sz="2200">
                <a:solidFill>
                  <a:srgbClr val="F1F5F9"/>
                </a:solidFill>
                <a:latin typeface="Lato"/>
              </a:defRPr>
            </a:pPr>
            <a:r>
              <a:t>4. Indexing: Fast semantic retrieval using a cloud-managed Qdrant Cloud vector database cluster.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22C55E"/>
                </a:solidFill>
                <a:latin typeface="Poppins"/>
              </a:defRPr>
            </a:pPr>
            <a:r>
              <a:t>RAG Mechanics &amp; Hallucination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1F5F9"/>
                </a:solidFill>
                <a:latin typeface="Lato"/>
              </a:defRPr>
            </a:pPr>
            <a:r>
              <a:t>• Context-First Principle: The system strictly limits Llama 3.1 generation parameters to context blocks fetched by the retriever.</a:t>
            </a:r>
          </a:p>
          <a:p>
            <a:pPr>
              <a:spcAft>
                <a:spcPts val="1200"/>
              </a:spcAft>
              <a:defRPr sz="2200">
                <a:solidFill>
                  <a:srgbClr val="F1F5F9"/>
                </a:solidFill>
                <a:latin typeface="Lato"/>
              </a:defRPr>
            </a:pPr>
            <a:r>
              <a:t>• Distance Threshold Guardrails: Calculates real-time distance metrics on user queries. If the best document score exceeds a strict similarity threshold, inference is bypassed.</a:t>
            </a:r>
          </a:p>
          <a:p>
            <a:pPr>
              <a:spcAft>
                <a:spcPts val="1200"/>
              </a:spcAft>
              <a:defRPr sz="2200">
                <a:solidFill>
                  <a:srgbClr val="F1F5F9"/>
                </a:solidFill>
                <a:latin typeface="Lato"/>
              </a:defRPr>
            </a:pPr>
            <a:r>
              <a:t>• Safe Rejection: Instantly returns the deterministic string: 'I could not find the answer in the provided knowledge base.' instead of guessing.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22C55E"/>
                </a:solidFill>
                <a:latin typeface="Poppins"/>
              </a:defRPr>
            </a:pPr>
            <a:r>
              <a:t>FastAPI Service &amp; Cloud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• Backend Framework: API built using asynchronous FastAPI methods for clean, non-blocking network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• Endpoint Verification: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  - GET /health: Service status tracking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  - POST /ask: Primary entrypoint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• Deployment: Containerized via Docker and deployed live on Railway Cloud hosting.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22C55E"/>
                </a:solidFill>
                <a:latin typeface="Poppins"/>
              </a:defRPr>
            </a:pPr>
            <a:r>
              <a:t>Evaluation: Grounded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Valid Python Query Performance: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• Question: 'What is a Python decorator?'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• Result: The retriever locates adjacent context, and the Groq LLM compiles a rich, code-highlighted tutor response.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• Code-block indentation and formatting remain 100% intact.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22C55E"/>
                </a:solidFill>
                <a:latin typeface="Poppins"/>
              </a:defRPr>
            </a:pPr>
            <a:r>
              <a:t>Evaluation: Safe Rejection &amp;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Preventing Off-Domain Hallucinations: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• Question: 'Who won FIFA World Cup 2022?'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• Result: Out-of-knowledge queries successfully trigger similarity guardrails and are cleanly rejected.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Lato"/>
              </a:defRPr>
            </a:pPr>
            <a:r>
              <a:t>• Valid queries return precise source mappings containing original Stack Overflow question IDs.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22C55E"/>
                </a:solidFill>
                <a:latin typeface="Poppins"/>
              </a:defRPr>
            </a:pPr>
            <a:r>
              <a:t>Scalability &amp; Enterprise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1F5F9"/>
                </a:solidFill>
                <a:latin typeface="Lato"/>
              </a:defRPr>
            </a:pPr>
            <a:r>
              <a:t>• Async Concurrency: Handle heavy concurrent request cycles using FastAPI async event loops.</a:t>
            </a:r>
          </a:p>
          <a:p>
            <a:pPr>
              <a:spcAft>
                <a:spcPts val="1200"/>
              </a:spcAft>
              <a:defRPr sz="2100">
                <a:solidFill>
                  <a:srgbClr val="F1F5F9"/>
                </a:solidFill>
                <a:latin typeface="Lato"/>
              </a:defRPr>
            </a:pPr>
            <a:r>
              <a:t>• Semantic Caching: Introduce a Redis caching tier. Near-identical repeat student questions hit memory cache instantly (&lt;15ms) to save inference tokens.</a:t>
            </a:r>
          </a:p>
          <a:p>
            <a:pPr>
              <a:spcAft>
                <a:spcPts val="1200"/>
              </a:spcAft>
              <a:defRPr sz="2100">
                <a:solidFill>
                  <a:srgbClr val="F1F5F9"/>
                </a:solidFill>
                <a:latin typeface="Lato"/>
              </a:defRPr>
            </a:pPr>
            <a:r>
              <a:t>• Hybrid Retrieval: Combine lexical search (BM25) with Qdrant Cloud dense vector matching to increase code-keyword retrieval accuracy.</a:t>
            </a:r>
          </a:p>
          <a:p>
            <a:pPr>
              <a:spcAft>
                <a:spcPts val="1200"/>
              </a:spcAft>
              <a:defRPr sz="2100">
                <a:solidFill>
                  <a:srgbClr val="F1F5F9"/>
                </a:solidFill>
                <a:latin typeface="Lato"/>
              </a:defRPr>
            </a:pPr>
            <a:r>
              <a:t>• Real-time Observability: Integrate tracing via LangSmith or Arize Phoenix to track execution latency and detect model drift.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